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02336"/>
            <a:ext cx="256032" cy="0"/>
          </a:xfrm>
          <a:prstGeom prst="line">
            <a:avLst/>
          </a:prstGeom>
          <a:ln w="20320">
            <a:solidFill>
              <a:srgbClr val="9CE1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8076" y="475488"/>
            <a:ext cx="173736" cy="0"/>
          </a:xfrm>
          <a:prstGeom prst="line">
            <a:avLst/>
          </a:prstGeom>
          <a:ln w="20320">
            <a:solidFill>
              <a:srgbClr val="9CE1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3796" y="548640"/>
            <a:ext cx="82296" cy="0"/>
          </a:xfrm>
          <a:prstGeom prst="line">
            <a:avLst/>
          </a:prstGeom>
          <a:ln w="20320">
            <a:solidFill>
              <a:srgbClr val="9CE1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2688" y="356616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CERNO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2976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FC0BA"/>
                </a:solidFill>
                <a:latin typeface="Menlo"/>
              </a:rPr>
              <a:t>GROWTHX × HERMES BUILDATHON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Your personal research desk.</a:t>
            </a:r>
            <a:br/>
            <a:r>
              <a:rPr sz="3600" b="1" i="0">
                <a:solidFill>
                  <a:srgbClr val="FFFFFF"/>
                </a:solidFill>
                <a:latin typeface="Georgia"/>
              </a:rPr>
              <a:t>Staffed by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267712"/>
            <a:ext cx="7589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8D8D4"/>
                </a:solidFill>
                <a:latin typeface="Avenir Next"/>
              </a:rPr>
              <a:t>One mission in. One finite, cited briefing out.</a:t>
            </a:r>
          </a:p>
        </p:txBody>
      </p:sp>
      <p:pic>
        <p:nvPicPr>
          <p:cNvPr id="9" name="Picture 8" descr="cerno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3472"/>
            <a:ext cx="12191695" cy="42702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0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02336"/>
            <a:ext cx="256032" cy="0"/>
          </a:xfrm>
          <a:prstGeom prst="line">
            <a:avLst/>
          </a:prstGeom>
          <a:ln w="2032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8076" y="475488"/>
            <a:ext cx="173736" cy="0"/>
          </a:xfrm>
          <a:prstGeom prst="line">
            <a:avLst/>
          </a:prstGeom>
          <a:ln w="2032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3796" y="548640"/>
            <a:ext cx="82296" cy="0"/>
          </a:xfrm>
          <a:prstGeom prst="line">
            <a:avLst/>
          </a:prstGeom>
          <a:ln w="2032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2688" y="356616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320"/>
                </a:solidFill>
                <a:latin typeface="Avenir Next"/>
              </a:rPr>
              <a:t>CERNO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665A"/>
                </a:solidFill>
                <a:latin typeface="Menlo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88720"/>
            <a:ext cx="107899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82320"/>
                </a:solidFill>
                <a:latin typeface="Georgia"/>
              </a:rPr>
              <a:t>The internet does not have an</a:t>
            </a:r>
            <a:br/>
            <a:r>
              <a:rPr sz="3100" b="1" i="0">
                <a:solidFill>
                  <a:srgbClr val="182320"/>
                </a:solidFill>
                <a:latin typeface="Georgia"/>
              </a:rPr>
              <a:t>information shortage.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84831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665A"/>
                </a:solidFill>
                <a:latin typeface="Georgia"/>
              </a:rPr>
              <a:t>It has a judgment problem.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2761488"/>
            <a:ext cx="10863072" cy="0"/>
          </a:xfrm>
          <a:prstGeom prst="line">
            <a:avLst/>
          </a:prstGeom>
          <a:ln w="12700">
            <a:solidFill>
              <a:srgbClr val="D5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3108960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665A"/>
                </a:solidFill>
                <a:latin typeface="Menl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09067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320"/>
                </a:solidFill>
                <a:latin typeface="Avenir Next"/>
              </a:rPr>
              <a:t>FEEDS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502152"/>
            <a:ext cx="28803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4726D"/>
                </a:solidFill>
                <a:latin typeface="Avenir Next"/>
              </a:rPr>
              <a:t>Optimize engagement —</a:t>
            </a:r>
            <a:br/>
            <a:r>
              <a:rPr sz="1500" b="0" i="0">
                <a:solidFill>
                  <a:srgbClr val="64726D"/>
                </a:solidFill>
                <a:latin typeface="Avenir Next"/>
              </a:rPr>
              <a:t>not the work in front of you.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5" y="3108960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665A"/>
                </a:solidFill>
                <a:latin typeface="Menl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1455" y="309067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320"/>
                </a:solidFill>
                <a:latin typeface="Avenir Next"/>
              </a:rPr>
              <a:t>READ-LATER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5" y="3502152"/>
            <a:ext cx="28803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4726D"/>
                </a:solidFill>
                <a:latin typeface="Avenir Next"/>
              </a:rPr>
              <a:t>Collect more material —</a:t>
            </a:r>
            <a:br/>
            <a:r>
              <a:rPr sz="1500" b="0" i="0">
                <a:solidFill>
                  <a:srgbClr val="64726D"/>
                </a:solidFill>
                <a:latin typeface="Avenir Next"/>
              </a:rPr>
              <a:t>and leave the reading to you.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0144" y="3108960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665A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309067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320"/>
                </a:solidFill>
                <a:latin typeface="Avenir Next"/>
              </a:rPr>
              <a:t>SUMMARIES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3502152"/>
            <a:ext cx="28803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4726D"/>
                </a:solidFill>
                <a:latin typeface="Avenir Next"/>
              </a:rPr>
              <a:t>Make everything shorter —</a:t>
            </a:r>
            <a:br/>
            <a:r>
              <a:rPr sz="1500" b="0" i="0">
                <a:solidFill>
                  <a:srgbClr val="64726D"/>
                </a:solidFill>
                <a:latin typeface="Avenir Next"/>
              </a:rPr>
              <a:t>without deciding if it matters.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709160"/>
            <a:ext cx="10863072" cy="1060704"/>
          </a:xfrm>
          <a:prstGeom prst="roundRect">
            <a:avLst/>
          </a:prstGeom>
          <a:solidFill>
            <a:srgbClr val="10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96519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E1D3"/>
                </a:solidFill>
                <a:latin typeface="Menlo"/>
              </a:rPr>
              <a:t>The missing function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864608"/>
            <a:ext cx="80924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Georgia"/>
              </a:rPr>
              <a:t>Decide what deserves attention now — for this person.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56248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26D"/>
                </a:solidFill>
                <a:latin typeface="Menlo"/>
              </a:rPr>
              <a:t>CERNO · AI AS AGENCY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73968" y="653796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4726D"/>
                </a:solidFill>
                <a:latin typeface="Menl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02336"/>
            <a:ext cx="256032" cy="0"/>
          </a:xfrm>
          <a:prstGeom prst="line">
            <a:avLst/>
          </a:prstGeom>
          <a:ln w="2032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8076" y="475488"/>
            <a:ext cx="173736" cy="0"/>
          </a:xfrm>
          <a:prstGeom prst="line">
            <a:avLst/>
          </a:prstGeom>
          <a:ln w="2032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3796" y="548640"/>
            <a:ext cx="82296" cy="0"/>
          </a:xfrm>
          <a:prstGeom prst="line">
            <a:avLst/>
          </a:prstGeom>
          <a:ln w="2032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2688" y="356616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320"/>
                </a:solidFill>
                <a:latin typeface="Avenir Next"/>
              </a:rPr>
              <a:t>CERNO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5039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665A"/>
                </a:solidFill>
                <a:latin typeface="Menlo"/>
              </a:rPr>
              <a:t>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430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82320"/>
                </a:solidFill>
                <a:latin typeface="Georgia"/>
              </a:rPr>
              <a:t>One mission in. One finite briefing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01951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665A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874519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2320"/>
                </a:solidFill>
                <a:latin typeface="Avenir Next"/>
              </a:rPr>
              <a:t>FOCUS THREAD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157984"/>
            <a:ext cx="342900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26D"/>
                </a:solidFill>
                <a:latin typeface="Avenir Next"/>
              </a:rPr>
              <a:t>Declare the current decision, context, and boundaries.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2194560"/>
            <a:ext cx="0" cy="557784"/>
          </a:xfrm>
          <a:prstGeom prst="line">
            <a:avLst/>
          </a:prstGeom>
          <a:ln w="20320">
            <a:solidFill>
              <a:srgbClr val="DCEB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6656" y="2843784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665A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816352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2320"/>
                </a:solidFill>
                <a:latin typeface="Avenir Next"/>
              </a:rPr>
              <a:t>AGENT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099816"/>
            <a:ext cx="342900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26D"/>
                </a:solidFill>
                <a:latin typeface="Avenir Next"/>
              </a:rPr>
              <a:t>A Hermes Director delegates text, video, and personal judgment.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3136392"/>
            <a:ext cx="0" cy="557784"/>
          </a:xfrm>
          <a:prstGeom prst="line">
            <a:avLst/>
          </a:prstGeom>
          <a:ln w="20320">
            <a:solidFill>
              <a:srgbClr val="DCEB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6656" y="3785615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665A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758183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2320"/>
                </a:solidFill>
                <a:latin typeface="Avenir Next"/>
              </a:rPr>
              <a:t>EXACT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041647"/>
            <a:ext cx="342900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26D"/>
                </a:solidFill>
                <a:latin typeface="Avenir Next"/>
              </a:rPr>
              <a:t>Passages or VideoDB transcript moments must exact-match before publication.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4078223"/>
            <a:ext cx="0" cy="557784"/>
          </a:xfrm>
          <a:prstGeom prst="line">
            <a:avLst/>
          </a:prstGeom>
          <a:ln w="20320">
            <a:solidFill>
              <a:srgbClr val="DCEB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6656" y="4727448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665A"/>
                </a:solidFill>
                <a:latin typeface="Menl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700016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2320"/>
                </a:solidFill>
                <a:latin typeface="Avenir Next"/>
              </a:rPr>
              <a:t>VISIBLE TASTE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983479"/>
            <a:ext cx="342900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26D"/>
                </a:solidFill>
                <a:latin typeface="Avenir Next"/>
              </a:rPr>
              <a:t>Correct the reasoning; approve a readable TasteDoc change.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28032" y="1773936"/>
            <a:ext cx="6675120" cy="4233672"/>
          </a:xfrm>
          <a:prstGeom prst="roundRect">
            <a:avLst/>
          </a:prstGeom>
          <a:solidFill>
            <a:srgbClr val="E5ECEA"/>
          </a:solidFill>
          <a:ln w="10160">
            <a:solidFill>
              <a:srgbClr val="D5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riefing-demo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174" y="1847088"/>
            <a:ext cx="6010835" cy="408736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58368" y="5833872"/>
            <a:ext cx="3685032" cy="384048"/>
          </a:xfrm>
          <a:prstGeom prst="roundRect">
            <a:avLst/>
          </a:prstGeom>
          <a:solidFill>
            <a:srgbClr val="D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916168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C665A"/>
                </a:solidFill>
                <a:latin typeface="Menlo"/>
              </a:rPr>
              <a:t>LIVE DEMO  →  assign · inspect · correct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56248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26D"/>
                </a:solidFill>
                <a:latin typeface="Menlo"/>
              </a:rPr>
              <a:t>CERNO · AI AS AGENCY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73968" y="653796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4726D"/>
                </a:solidFill>
                <a:latin typeface="Menl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02336"/>
            <a:ext cx="256032" cy="0"/>
          </a:xfrm>
          <a:prstGeom prst="line">
            <a:avLst/>
          </a:prstGeom>
          <a:ln w="2032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8076" y="475488"/>
            <a:ext cx="173736" cy="0"/>
          </a:xfrm>
          <a:prstGeom prst="line">
            <a:avLst/>
          </a:prstGeom>
          <a:ln w="2032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3796" y="548640"/>
            <a:ext cx="82296" cy="0"/>
          </a:xfrm>
          <a:prstGeom prst="line">
            <a:avLst/>
          </a:prstGeom>
          <a:ln w="2032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2688" y="356616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320"/>
                </a:solidFill>
                <a:latin typeface="Avenir Next"/>
              </a:rPr>
              <a:t>CERNO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5039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665A"/>
                </a:solidFill>
                <a:latin typeface="Menlo"/>
              </a:rPr>
              <a:t>AI AS AGENCY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82320"/>
                </a:solidFill>
                <a:latin typeface="Georgia"/>
              </a:rPr>
              <a:t>An agent team replaces the personal research desk.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39112"/>
            <a:ext cx="1901952" cy="2633472"/>
          </a:xfrm>
          <a:prstGeom prst="roundRect">
            <a:avLst/>
          </a:prstGeom>
          <a:solidFill>
            <a:srgbClr val="FCFDFC"/>
          </a:solidFill>
          <a:ln w="10160">
            <a:solidFill>
              <a:srgbClr val="D5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7685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665A"/>
                </a:solidFill>
                <a:latin typeface="Menlo"/>
              </a:rPr>
              <a:t>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578608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2320"/>
                </a:solidFill>
                <a:latin typeface="Avenir Next"/>
              </a:rPr>
              <a:t>Focus Thread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999232"/>
            <a:ext cx="1417320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26D"/>
                </a:solidFill>
                <a:latin typeface="Avenir Next"/>
              </a:rPr>
              <a:t>Current mission</a:t>
            </a:r>
            <a:br/>
            <a:r>
              <a:rPr sz="1150" b="0" i="0">
                <a:solidFill>
                  <a:srgbClr val="64726D"/>
                </a:solidFill>
                <a:latin typeface="Avenir Next"/>
              </a:rPr>
              <a:t>Known context</a:t>
            </a:r>
            <a:br/>
            <a:r>
              <a:rPr sz="1150" b="0" i="0">
                <a:solidFill>
                  <a:srgbClr val="64726D"/>
                </a:solidFill>
                <a:latin typeface="Avenir Next"/>
              </a:rPr>
              <a:t>Desired outcome</a:t>
            </a:r>
            <a:br/>
            <a:r>
              <a:rPr sz="1150" b="0" i="0">
                <a:solidFill>
                  <a:srgbClr val="64726D"/>
                </a:solidFill>
                <a:latin typeface="Avenir Next"/>
              </a:rPr>
              <a:t>Freshness</a:t>
            </a:r>
            <a:br/>
            <a:r>
              <a:rPr sz="1150" b="0" i="0">
                <a:solidFill>
                  <a:srgbClr val="64726D"/>
                </a:solidFill>
                <a:latin typeface="Avenir Next"/>
              </a:rPr>
              <a:t>TasteDoc snapshot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3328416"/>
            <a:ext cx="493776" cy="0"/>
          </a:xfrm>
          <a:prstGeom prst="line">
            <a:avLst/>
          </a:prstGeom>
          <a:ln w="2286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54096" y="2322576"/>
            <a:ext cx="1993392" cy="1993392"/>
          </a:xfrm>
          <a:prstGeom prst="roundRect">
            <a:avLst/>
          </a:prstGeom>
          <a:solidFill>
            <a:srgbClr val="10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6704" y="26060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E1D3"/>
                </a:solidFill>
                <a:latin typeface="Menlo"/>
              </a:rPr>
              <a:t>MANAGER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2926080"/>
            <a:ext cx="13716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Research</a:t>
            </a:r>
            <a:br/>
            <a:r>
              <a:rPr sz="2200" b="1" i="0">
                <a:solidFill>
                  <a:srgbClr val="FFFFFF"/>
                </a:solidFill>
                <a:latin typeface="Georgia"/>
              </a:rPr>
              <a:t>Director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381304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FC0BA"/>
                </a:solidFill>
                <a:latin typeface="Menlo"/>
              </a:rPr>
              <a:t>plans · delegates · reviews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47488" y="3319272"/>
            <a:ext cx="512064" cy="0"/>
          </a:xfrm>
          <a:prstGeom prst="line">
            <a:avLst/>
          </a:prstGeom>
          <a:ln w="2286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59552" y="2414016"/>
            <a:ext cx="0" cy="1837944"/>
          </a:xfrm>
          <a:prstGeom prst="line">
            <a:avLst/>
          </a:prstGeom>
          <a:ln w="1524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559552" y="2368296"/>
            <a:ext cx="310896" cy="0"/>
          </a:xfrm>
          <a:prstGeom prst="line">
            <a:avLst/>
          </a:prstGeom>
          <a:ln w="1524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870448" y="2011680"/>
            <a:ext cx="2084831" cy="713232"/>
          </a:xfrm>
          <a:prstGeom prst="roundRect">
            <a:avLst/>
          </a:prstGeom>
          <a:solidFill>
            <a:srgbClr val="FCFDFC"/>
          </a:solidFill>
          <a:ln w="10160">
            <a:solidFill>
              <a:srgbClr val="D5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1616" y="2121408"/>
            <a:ext cx="9326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82320"/>
                </a:solidFill>
                <a:latin typeface="Avenir Next"/>
              </a:rPr>
              <a:t>EVIDENCE</a:t>
            </a:r>
            <a:br/>
            <a:r>
              <a:rPr sz="950" b="1" i="0">
                <a:solidFill>
                  <a:srgbClr val="182320"/>
                </a:solidFill>
                <a:latin typeface="Avenir Next"/>
              </a:rPr>
              <a:t>ANALYST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19456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26D"/>
                </a:solidFill>
                <a:latin typeface="Avenir Next"/>
              </a:rPr>
              <a:t>primary sources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59552" y="3328416"/>
            <a:ext cx="310896" cy="0"/>
          </a:xfrm>
          <a:prstGeom prst="line">
            <a:avLst/>
          </a:prstGeom>
          <a:ln w="1524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870448" y="2971800"/>
            <a:ext cx="2084831" cy="713232"/>
          </a:xfrm>
          <a:prstGeom prst="roundRect">
            <a:avLst/>
          </a:prstGeom>
          <a:solidFill>
            <a:srgbClr val="FCFDFC"/>
          </a:solidFill>
          <a:ln w="10160">
            <a:solidFill>
              <a:srgbClr val="D5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71616" y="3081528"/>
            <a:ext cx="9326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82320"/>
                </a:solidFill>
                <a:latin typeface="Avenir Next"/>
              </a:rPr>
              <a:t>VIDEO</a:t>
            </a:r>
            <a:br/>
            <a:r>
              <a:rPr sz="950" b="1" i="0">
                <a:solidFill>
                  <a:srgbClr val="182320"/>
                </a:solidFill>
                <a:latin typeface="Avenir Next"/>
              </a:rPr>
              <a:t>ANALYST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315468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26D"/>
                </a:solidFill>
                <a:latin typeface="Avenir Next"/>
              </a:rPr>
              <a:t>timestamped moments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59552" y="4288536"/>
            <a:ext cx="310896" cy="0"/>
          </a:xfrm>
          <a:prstGeom prst="line">
            <a:avLst/>
          </a:prstGeom>
          <a:ln w="1524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870448" y="3931920"/>
            <a:ext cx="2084831" cy="713232"/>
          </a:xfrm>
          <a:prstGeom prst="roundRect">
            <a:avLst/>
          </a:prstGeom>
          <a:solidFill>
            <a:srgbClr val="FCFDFC"/>
          </a:solidFill>
          <a:ln w="10160">
            <a:solidFill>
              <a:srgbClr val="D5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1616" y="4041648"/>
            <a:ext cx="9326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82320"/>
                </a:solidFill>
                <a:latin typeface="Avenir Next"/>
              </a:rPr>
              <a:t>PERSONAL</a:t>
            </a:r>
            <a:br/>
            <a:r>
              <a:rPr sz="950" b="1" i="0">
                <a:solidFill>
                  <a:srgbClr val="182320"/>
                </a:solidFill>
                <a:latin typeface="Avenir Next"/>
              </a:rPr>
              <a:t>EDITOR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411480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26D"/>
                </a:solidFill>
                <a:latin typeface="Avenir Next"/>
              </a:rPr>
              <a:t>novelty + taste fit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55279" y="3319272"/>
            <a:ext cx="475489" cy="0"/>
          </a:xfrm>
          <a:prstGeom prst="line">
            <a:avLst/>
          </a:prstGeom>
          <a:ln w="2286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430768" y="2039112"/>
            <a:ext cx="3090672" cy="2633472"/>
          </a:xfrm>
          <a:prstGeom prst="roundRect">
            <a:avLst/>
          </a:prstGeom>
          <a:solidFill>
            <a:srgbClr val="EEF6F3"/>
          </a:solidFill>
          <a:ln w="10160">
            <a:solidFill>
              <a:srgbClr val="DC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227685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665A"/>
                </a:solidFill>
                <a:latin typeface="Menlo"/>
              </a:rPr>
              <a:t>DETERMINISTIC 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57860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2320"/>
                </a:solidFill>
                <a:latin typeface="Avenir Next"/>
              </a:rPr>
              <a:t>Validate before publish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95944" y="3017520"/>
            <a:ext cx="164592" cy="164592"/>
          </a:xfrm>
          <a:prstGeom prst="roundRect">
            <a:avLst/>
          </a:prstGeom>
          <a:solidFill>
            <a:srgbClr val="1C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95944" y="3008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9408" y="3008376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26D"/>
                </a:solidFill>
                <a:latin typeface="Avenir Next"/>
              </a:rPr>
              <a:t>exact quote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95944" y="3364991"/>
            <a:ext cx="164592" cy="164592"/>
          </a:xfrm>
          <a:prstGeom prst="roundRect">
            <a:avLst/>
          </a:prstGeom>
          <a:solidFill>
            <a:srgbClr val="1C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95944" y="335584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9408" y="3355848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26D"/>
                </a:solidFill>
                <a:latin typeface="Avenir Next"/>
              </a:rPr>
              <a:t>source or timestamp locator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95944" y="3712463"/>
            <a:ext cx="164592" cy="164592"/>
          </a:xfrm>
          <a:prstGeom prst="roundRect">
            <a:avLst/>
          </a:prstGeom>
          <a:solidFill>
            <a:srgbClr val="1C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95944" y="370332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9408" y="3703320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26D"/>
                </a:solidFill>
                <a:latin typeface="Avenir Next"/>
              </a:rPr>
              <a:t>content hash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95944" y="4059935"/>
            <a:ext cx="164592" cy="164592"/>
          </a:xfrm>
          <a:prstGeom prst="roundRect">
            <a:avLst/>
          </a:prstGeom>
          <a:solidFill>
            <a:srgbClr val="1C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95944" y="4050791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79408" y="4050791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26D"/>
                </a:solidFill>
                <a:latin typeface="Avenir Next"/>
              </a:rPr>
              <a:t>playable video moment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437997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C665A"/>
                </a:solidFill>
                <a:latin typeface="Menlo"/>
              </a:rPr>
              <a:t>FINITE BRIEFING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5148072"/>
            <a:ext cx="10863072" cy="713232"/>
          </a:xfrm>
          <a:prstGeom prst="roundRect">
            <a:avLst/>
          </a:prstGeom>
          <a:solidFill>
            <a:srgbClr val="FCFDFC"/>
          </a:solidFill>
          <a:ln w="10160">
            <a:solidFill>
              <a:srgbClr val="D5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2" y="5367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C665A"/>
                </a:solidFill>
                <a:latin typeface="Menlo"/>
              </a:rPr>
              <a:t>CONVEX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45919" y="5340096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4726D"/>
                </a:solidFill>
                <a:latin typeface="Avenir Next"/>
              </a:rPr>
              <a:t>canonical 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66160" y="5367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C665A"/>
                </a:solidFill>
                <a:latin typeface="Menlo"/>
              </a:rPr>
              <a:t>LINKUP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15968" y="5340096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4726D"/>
                </a:solidFill>
                <a:latin typeface="Avenir Next"/>
              </a:rPr>
              <a:t>live discovery + fetch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8" y="5367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C665A"/>
                </a:solidFill>
                <a:latin typeface="Menlo"/>
              </a:rPr>
              <a:t>VIDEODB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86016" y="5340096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4726D"/>
                </a:solidFill>
                <a:latin typeface="Avenir Next"/>
              </a:rPr>
              <a:t>indexed exact moments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06256" y="536752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C665A"/>
                </a:solidFill>
                <a:latin typeface="Menlo"/>
              </a:rPr>
              <a:t>HERMES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56064" y="5340096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4726D"/>
                </a:solidFill>
                <a:latin typeface="Avenir Next"/>
              </a:rPr>
              <a:t>Director + delegation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556248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26D"/>
                </a:solidFill>
                <a:latin typeface="Menlo"/>
              </a:rPr>
              <a:t>CERNO · AI AS AGENCY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73968" y="653796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4726D"/>
                </a:solidFill>
                <a:latin typeface="Menl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02336"/>
            <a:ext cx="256032" cy="0"/>
          </a:xfrm>
          <a:prstGeom prst="line">
            <a:avLst/>
          </a:prstGeom>
          <a:ln w="2032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8076" y="475488"/>
            <a:ext cx="173736" cy="0"/>
          </a:xfrm>
          <a:prstGeom prst="line">
            <a:avLst/>
          </a:prstGeom>
          <a:ln w="2032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3796" y="548640"/>
            <a:ext cx="82296" cy="0"/>
          </a:xfrm>
          <a:prstGeom prst="line">
            <a:avLst/>
          </a:prstGeom>
          <a:ln w="2032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2688" y="356616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320"/>
                </a:solidFill>
                <a:latin typeface="Avenir Next"/>
              </a:rPr>
              <a:t>CERNO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5039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665A"/>
                </a:solidFill>
                <a:latin typeface="Menlo"/>
              </a:rPr>
              <a:t>THE TRUST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82320"/>
                </a:solidFill>
                <a:latin typeface="Georgia"/>
              </a:rPr>
              <a:t>Trust is a product surface — not a disclaimer.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7373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4726D"/>
                </a:solidFill>
                <a:latin typeface="Avenir Next"/>
              </a:rPr>
              <a:t>Every finding exposes the full path from claim to personal judgment.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50976" y="2432304"/>
            <a:ext cx="0" cy="2990088"/>
          </a:xfrm>
          <a:prstGeom prst="line">
            <a:avLst/>
          </a:prstGeom>
          <a:ln w="2540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2104" y="2377440"/>
            <a:ext cx="237744" cy="237744"/>
          </a:xfrm>
          <a:prstGeom prst="roundRect">
            <a:avLst/>
          </a:prstGeom>
          <a:solidFill>
            <a:srgbClr val="1C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" y="230428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C665A"/>
                </a:solidFill>
                <a:latin typeface="Menl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304288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82320"/>
                </a:solidFill>
                <a:latin typeface="Avenir Next"/>
              </a:rPr>
              <a:t>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56032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26D"/>
                </a:solidFill>
                <a:latin typeface="Avenir Next"/>
              </a:rPr>
              <a:t>Atomic, decision-relevant finding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" y="3054096"/>
            <a:ext cx="237744" cy="237744"/>
          </a:xfrm>
          <a:prstGeom prst="roundRect">
            <a:avLst/>
          </a:prstGeom>
          <a:solidFill>
            <a:srgbClr val="1C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584" y="298094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C665A"/>
                </a:solidFill>
                <a:latin typeface="Menl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980944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82320"/>
                </a:solidFill>
                <a:latin typeface="Avenir Next"/>
              </a:rPr>
              <a:t>EXACT PASSAGE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236976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26D"/>
                </a:solidFill>
                <a:latin typeface="Avenir Next"/>
              </a:rPr>
              <a:t>Source substring or timestamped VideoDB transcript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" y="3730752"/>
            <a:ext cx="237744" cy="237744"/>
          </a:xfrm>
          <a:prstGeom prst="roundRect">
            <a:avLst/>
          </a:prstGeom>
          <a:solidFill>
            <a:srgbClr val="1C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584" y="365760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C665A"/>
                </a:solidFill>
                <a:latin typeface="Menl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65760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82320"/>
                </a:solidFill>
                <a:latin typeface="Avenir Next"/>
              </a:rPr>
              <a:t>PROVENANCE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91363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26D"/>
                </a:solidFill>
                <a:latin typeface="Avenir Next"/>
              </a:rPr>
              <a:t>Source/timestamp locator + SHA-256 content hash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" y="4407408"/>
            <a:ext cx="237744" cy="237744"/>
          </a:xfrm>
          <a:prstGeom prst="roundRect">
            <a:avLst/>
          </a:prstGeom>
          <a:solidFill>
            <a:srgbClr val="1C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3584" y="433425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C665A"/>
                </a:solidFill>
                <a:latin typeface="Menl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334256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82320"/>
                </a:solidFill>
                <a:latin typeface="Avenir Next"/>
              </a:rPr>
              <a:t>PERSONAL 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590288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26D"/>
                </a:solidFill>
                <a:latin typeface="Avenir Next"/>
              </a:rPr>
              <a:t>Novelty and redundancy against prior claims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" y="5084064"/>
            <a:ext cx="237744" cy="237744"/>
          </a:xfrm>
          <a:prstGeom prst="roundRect">
            <a:avLst/>
          </a:prstGeom>
          <a:solidFill>
            <a:srgbClr val="1C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3584" y="501091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C665A"/>
                </a:solidFill>
                <a:latin typeface="Menl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010912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82320"/>
                </a:solidFill>
                <a:latin typeface="Avenir Next"/>
              </a:rPr>
              <a:t>TASTEDOC 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266944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26D"/>
                </a:solidFill>
                <a:latin typeface="Avenir Next"/>
              </a:rPr>
              <a:t>Visible rule used to make the judgment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70448" y="1755648"/>
            <a:ext cx="4663440" cy="4443984"/>
          </a:xfrm>
          <a:prstGeom prst="roundRect">
            <a:avLst/>
          </a:prstGeom>
          <a:solidFill>
            <a:srgbClr val="E4ECE9"/>
          </a:solidFill>
          <a:ln w="10160">
            <a:solidFill>
              <a:srgbClr val="D5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evidence-insp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467" y="1819655"/>
            <a:ext cx="3699401" cy="431596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8887968" y="5431536"/>
            <a:ext cx="2423160" cy="603504"/>
          </a:xfrm>
          <a:prstGeom prst="roundRect">
            <a:avLst/>
          </a:prstGeom>
          <a:solidFill>
            <a:srgbClr val="10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0" y="555955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CE1D3"/>
                </a:solidFill>
                <a:latin typeface="Menlo"/>
              </a:rPr>
              <a:t>CORRECTION → REVIEWED DIFF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56248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26D"/>
                </a:solidFill>
                <a:latin typeface="Menlo"/>
              </a:rPr>
              <a:t>CERNO · AI AS AGENCY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73968" y="653796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4726D"/>
                </a:solidFill>
                <a:latin typeface="Menl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02336"/>
            <a:ext cx="256032" cy="0"/>
          </a:xfrm>
          <a:prstGeom prst="line">
            <a:avLst/>
          </a:prstGeom>
          <a:ln w="2032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8076" y="475488"/>
            <a:ext cx="173736" cy="0"/>
          </a:xfrm>
          <a:prstGeom prst="line">
            <a:avLst/>
          </a:prstGeom>
          <a:ln w="2032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3796" y="548640"/>
            <a:ext cx="82296" cy="0"/>
          </a:xfrm>
          <a:prstGeom prst="line">
            <a:avLst/>
          </a:prstGeom>
          <a:ln w="20320">
            <a:solidFill>
              <a:srgbClr val="1C6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2688" y="356616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320"/>
                </a:solidFill>
                <a:latin typeface="Avenir Next"/>
              </a:rPr>
              <a:t>CERNO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5039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665A"/>
                </a:solidFill>
                <a:latin typeface="Menlo"/>
              </a:rPr>
              <a:t>VERIFIED PRODUCTION RUNS · 12 JUL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82320"/>
                </a:solidFill>
                <a:latin typeface="Georgia"/>
              </a:rPr>
              <a:t>Two missions. Every claim inspectable.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56231"/>
            <a:ext cx="2340864" cy="1024128"/>
          </a:xfrm>
          <a:prstGeom prst="roundRect">
            <a:avLst/>
          </a:prstGeom>
          <a:solidFill>
            <a:srgbClr val="FCFDFC"/>
          </a:solidFill>
          <a:ln w="10160">
            <a:solidFill>
              <a:srgbClr val="D5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56231"/>
            <a:ext cx="64008" cy="1024128"/>
          </a:xfrm>
          <a:prstGeom prst="rect">
            <a:avLst/>
          </a:prstGeom>
          <a:solidFill>
            <a:srgbClr val="1C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20824"/>
            <a:ext cx="202082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82320"/>
                </a:solidFill>
                <a:latin typeface="Avenir Nex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78024"/>
            <a:ext cx="20208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26D"/>
                </a:solidFill>
                <a:latin typeface="Menlo"/>
              </a:rPr>
              <a:t>PRODUCTION BRIEFINGS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679191"/>
            <a:ext cx="2020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4726D"/>
                </a:solidFill>
                <a:latin typeface="Avenir Next"/>
              </a:rPr>
              <a:t>authenticated Convex workspace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63824" y="1856231"/>
            <a:ext cx="2340864" cy="1024128"/>
          </a:xfrm>
          <a:prstGeom prst="roundRect">
            <a:avLst/>
          </a:prstGeom>
          <a:solidFill>
            <a:srgbClr val="FCFDFC"/>
          </a:solidFill>
          <a:ln w="10160">
            <a:solidFill>
              <a:srgbClr val="D5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63824" y="1856231"/>
            <a:ext cx="64008" cy="1024128"/>
          </a:xfrm>
          <a:prstGeom prst="rect">
            <a:avLst/>
          </a:prstGeom>
          <a:solidFill>
            <a:srgbClr val="1C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2020824"/>
            <a:ext cx="202082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82320"/>
                </a:solidFill>
                <a:latin typeface="Avenir Next"/>
              </a:rPr>
              <a:t>14 → 8 →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2478024"/>
            <a:ext cx="20208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26D"/>
                </a:solidFill>
                <a:latin typeface="Menlo"/>
              </a:rPr>
              <a:t>DISCOVERED · CONSUMED · PUBLISHED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2679191"/>
            <a:ext cx="2020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4726D"/>
                </a:solidFill>
                <a:latin typeface="Avenir Next"/>
              </a:rPr>
              <a:t>full sources beyond snippets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1856231"/>
            <a:ext cx="2340864" cy="1024128"/>
          </a:xfrm>
          <a:prstGeom prst="roundRect">
            <a:avLst/>
          </a:prstGeom>
          <a:solidFill>
            <a:srgbClr val="FCFDFC"/>
          </a:solidFill>
          <a:ln w="10160">
            <a:solidFill>
              <a:srgbClr val="D5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0" y="1856231"/>
            <a:ext cx="64008" cy="1024128"/>
          </a:xfrm>
          <a:prstGeom prst="rect">
            <a:avLst/>
          </a:prstGeom>
          <a:solidFill>
            <a:srgbClr val="A4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0448" y="2020824"/>
            <a:ext cx="202082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82320"/>
                </a:solidFill>
                <a:latin typeface="Avenir Next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2478024"/>
            <a:ext cx="20208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26D"/>
                </a:solidFill>
                <a:latin typeface="Menlo"/>
              </a:rPr>
              <a:t>REJECTED + PRESERVED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0448" y="2679191"/>
            <a:ext cx="2020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4726D"/>
                </a:solidFill>
                <a:latin typeface="Avenir Next"/>
              </a:rPr>
              <a:t>judgment remains inspectable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74736" y="1856231"/>
            <a:ext cx="3346704" cy="1024128"/>
          </a:xfrm>
          <a:prstGeom prst="roundRect">
            <a:avLst/>
          </a:prstGeom>
          <a:solidFill>
            <a:srgbClr val="FCFDFC"/>
          </a:solidFill>
          <a:ln w="10160">
            <a:solidFill>
              <a:srgbClr val="D5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74736" y="1856231"/>
            <a:ext cx="64008" cy="1024128"/>
          </a:xfrm>
          <a:prstGeom prst="rect">
            <a:avLst/>
          </a:prstGeom>
          <a:solidFill>
            <a:srgbClr val="D7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75904" y="2020824"/>
            <a:ext cx="302666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82320"/>
                </a:solidFill>
                <a:latin typeface="Avenir Next"/>
              </a:rPr>
              <a:t>2 exact clips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2478024"/>
            <a:ext cx="30266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26D"/>
                </a:solidFill>
                <a:latin typeface="Menlo"/>
              </a:rPr>
              <a:t>TIMESTAMP-BOUNDED VIDEODB STREAMS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2679191"/>
            <a:ext cx="30266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4726D"/>
                </a:solidFill>
                <a:latin typeface="Avenir Next"/>
              </a:rPr>
              <a:t>8.72s + 16.66s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127248"/>
            <a:ext cx="6876288" cy="2633472"/>
          </a:xfrm>
          <a:prstGeom prst="roundRect">
            <a:avLst/>
          </a:prstGeom>
          <a:solidFill>
            <a:srgbClr val="10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3392424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E1D3"/>
                </a:solidFill>
                <a:latin typeface="Menlo"/>
              </a:rPr>
              <a:t>EVIDENCE RECEIPT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730752"/>
            <a:ext cx="61722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“The result is four recurring failure modes: unregulated growth, missing semantic revision, capacity-driven forgetting, and read-only retrieval.”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4764024"/>
            <a:ext cx="601675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FC0BA"/>
                </a:solidFill>
                <a:latin typeface="Menlo"/>
              </a:rPr>
              <a:t>SOURCE  arxiv.org/abs/2605.26252</a:t>
            </a:r>
            <a:br/>
            <a:r>
              <a:rPr sz="850" b="0" i="0">
                <a:solidFill>
                  <a:srgbClr val="AFC0BA"/>
                </a:solidFill>
                <a:latin typeface="Menlo"/>
              </a:rPr>
              <a:t>LOCATOR Is Agent Memory a Database? · paragraph 13</a:t>
            </a:r>
            <a:br/>
            <a:r>
              <a:rPr sz="850" b="0" i="0">
                <a:solidFill>
                  <a:srgbClr val="AFC0BA"/>
                </a:solidFill>
                <a:latin typeface="Menlo"/>
              </a:rPr>
              <a:t>SHA-256 f8853e7c…1432385b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5431536"/>
            <a:ext cx="5212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CE1D3"/>
                </a:solidFill>
                <a:latin typeface="Menlo"/>
              </a:rPr>
              <a:t>6 / 6 production claims passed exact evidence validation.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3127248"/>
            <a:ext cx="3749039" cy="2633472"/>
          </a:xfrm>
          <a:prstGeom prst="roundRect">
            <a:avLst/>
          </a:prstGeom>
          <a:solidFill>
            <a:srgbClr val="FCFDFC"/>
          </a:solidFill>
          <a:ln w="10160">
            <a:solidFill>
              <a:srgbClr val="D5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008" y="3392424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665A"/>
                </a:solidFill>
                <a:latin typeface="Menlo"/>
              </a:rPr>
              <a:t>WHAT THE RECEIPTS PROVE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3296" y="3767328"/>
            <a:ext cx="164592" cy="164592"/>
          </a:xfrm>
          <a:prstGeom prst="roundRect">
            <a:avLst/>
          </a:prstGeom>
          <a:solidFill>
            <a:srgbClr val="1C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83296" y="375818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4" y="3749040"/>
            <a:ext cx="28163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26D"/>
                </a:solidFill>
                <a:latin typeface="Avenir Next"/>
              </a:rPr>
              <a:t>Public app + identity-owned workspace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3296" y="4114800"/>
            <a:ext cx="164592" cy="164592"/>
          </a:xfrm>
          <a:prstGeom prst="roundRect">
            <a:avLst/>
          </a:prstGeom>
          <a:solidFill>
            <a:srgbClr val="1C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83296" y="41056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4096512"/>
            <a:ext cx="28163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26D"/>
                </a:solidFill>
                <a:latin typeface="Avenir Next"/>
              </a:rPr>
              <a:t>Live LinkUp discovery + primary fetch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83296" y="4462272"/>
            <a:ext cx="164592" cy="164592"/>
          </a:xfrm>
          <a:prstGeom prst="roundRect">
            <a:avLst/>
          </a:prstGeom>
          <a:solidFill>
            <a:srgbClr val="1C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83296" y="44531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5904" y="4443984"/>
            <a:ext cx="28163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26D"/>
                </a:solidFill>
                <a:latin typeface="Avenir Next"/>
              </a:rPr>
              <a:t>2 Hermes native delegation receipts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83296" y="4809744"/>
            <a:ext cx="164592" cy="164592"/>
          </a:xfrm>
          <a:prstGeom prst="roundRect">
            <a:avLst/>
          </a:prstGeom>
          <a:solidFill>
            <a:srgbClr val="1C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83296" y="480060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75904" y="4791456"/>
            <a:ext cx="28163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26D"/>
                </a:solidFill>
                <a:latin typeface="Avenir Next"/>
              </a:rPr>
              <a:t>6 exact-matched findings; snippets excluded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83296" y="5157216"/>
            <a:ext cx="164592" cy="164592"/>
          </a:xfrm>
          <a:prstGeom prst="roundRect">
            <a:avLst/>
          </a:prstGeom>
          <a:solidFill>
            <a:srgbClr val="1C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83296" y="514807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75904" y="5138928"/>
            <a:ext cx="28163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26D"/>
                </a:solidFill>
                <a:latin typeface="Avenir Next"/>
              </a:rPr>
              <a:t>2 timestamp-bounded VideoDB clips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" y="6044184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A45C52"/>
                </a:solidFill>
                <a:latin typeface="Menlo"/>
              </a:rPr>
              <a:t>HONESTY BOUNDARY · production receipts are real; external users, traffic, and verified model cost are not claimed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556248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26D"/>
                </a:solidFill>
                <a:latin typeface="Menlo"/>
              </a:rPr>
              <a:t>CERNO · AI AS AGENCY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73968" y="653796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4726D"/>
                </a:solidFill>
                <a:latin typeface="Menl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02336"/>
            <a:ext cx="256032" cy="0"/>
          </a:xfrm>
          <a:prstGeom prst="line">
            <a:avLst/>
          </a:prstGeom>
          <a:ln w="20320">
            <a:solidFill>
              <a:srgbClr val="9CE1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8076" y="475488"/>
            <a:ext cx="173736" cy="0"/>
          </a:xfrm>
          <a:prstGeom prst="line">
            <a:avLst/>
          </a:prstGeom>
          <a:ln w="20320">
            <a:solidFill>
              <a:srgbClr val="9CE1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3796" y="548640"/>
            <a:ext cx="82296" cy="0"/>
          </a:xfrm>
          <a:prstGeom prst="line">
            <a:avLst/>
          </a:prstGeom>
          <a:ln w="20320">
            <a:solidFill>
              <a:srgbClr val="9CE1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2688" y="356616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CERNO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5214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AFC0BA"/>
                </a:solidFill>
                <a:latin typeface="Georgia"/>
              </a:rPr>
              <a:t>The internet will keep getting bigger.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19072"/>
            <a:ext cx="1051560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Your attention will not.</a:t>
            </a:r>
            <a:br/>
            <a:r>
              <a:rPr sz="3600" b="1" i="0">
                <a:solidFill>
                  <a:srgbClr val="FFFFFF"/>
                </a:solidFill>
                <a:latin typeface="Georgia"/>
              </a:rPr>
              <a:t>Cerno decides what deserves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3675887"/>
            <a:ext cx="2414016" cy="457200"/>
          </a:xfrm>
          <a:prstGeom prst="roundRect">
            <a:avLst/>
          </a:prstGeom>
          <a:solidFill>
            <a:srgbClr val="1A3A32"/>
          </a:solidFill>
          <a:ln w="10160">
            <a:solidFill>
              <a:srgbClr val="315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794760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9CE1D3"/>
                </a:solidFill>
                <a:latin typeface="Menlo"/>
              </a:rPr>
              <a:t>FINITE BRIEFINGS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675887"/>
            <a:ext cx="2414016" cy="457200"/>
          </a:xfrm>
          <a:prstGeom prst="roundRect">
            <a:avLst/>
          </a:prstGeom>
          <a:solidFill>
            <a:srgbClr val="1A3A32"/>
          </a:solidFill>
          <a:ln w="10160">
            <a:solidFill>
              <a:srgbClr val="315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3794760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9CE1D3"/>
                </a:solidFill>
                <a:latin typeface="Menlo"/>
              </a:rPr>
              <a:t>VISIBLE TASTE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9904" y="3675887"/>
            <a:ext cx="2414016" cy="457200"/>
          </a:xfrm>
          <a:prstGeom prst="roundRect">
            <a:avLst/>
          </a:prstGeom>
          <a:solidFill>
            <a:srgbClr val="1A3A32"/>
          </a:solidFill>
          <a:ln w="10160">
            <a:solidFill>
              <a:srgbClr val="315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3794760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9CE1D3"/>
                </a:solidFill>
                <a:latin typeface="Menlo"/>
              </a:rPr>
              <a:t>CITED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96528" y="3675887"/>
            <a:ext cx="2414016" cy="457200"/>
          </a:xfrm>
          <a:prstGeom prst="roundRect">
            <a:avLst/>
          </a:prstGeom>
          <a:solidFill>
            <a:srgbClr val="1A3A32"/>
          </a:solidFill>
          <a:ln w="10160">
            <a:solidFill>
              <a:srgbClr val="315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06255" y="3794760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9CE1D3"/>
                </a:solidFill>
                <a:latin typeface="Menlo"/>
              </a:rPr>
              <a:t>NO FEED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6656" y="4700016"/>
            <a:ext cx="10844784" cy="0"/>
          </a:xfrm>
          <a:prstGeom prst="line">
            <a:avLst/>
          </a:prstGeom>
          <a:ln w="12700">
            <a:solidFill>
              <a:srgbClr val="315B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6656" y="5074920"/>
            <a:ext cx="8046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Georgia"/>
              </a:rPr>
              <a:t>One mission in. One trusted briefing 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566928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FC0BA"/>
                </a:solidFill>
                <a:latin typeface="Menlo"/>
              </a:rPr>
              <a:t>cernere · to sift, distinguish, and 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4624" y="5084064"/>
            <a:ext cx="1938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9CE1D3"/>
                </a:solidFill>
                <a:latin typeface="Avenir Next"/>
              </a:rPr>
              <a:t>Q&amp;A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56248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FC0BA"/>
                </a:solidFill>
                <a:latin typeface="Menlo"/>
              </a:rPr>
              <a:t>CERNO · AI AS AGENCY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73968" y="653796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FC0BA"/>
                </a:solidFill>
                <a:latin typeface="Menl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Cerno — Your personal research desk, staffed by agents</dc:title>
  <dc:subject>GrowthX × Hermes Buildathon — AI as Agency</dc:subject>
  <dc:creator>Cerno</dc:creator>
  <cp:keywords>Cerno, Hermes, AI as Agency, research agents, finite briefing</cp:keywords>
  <dc:description>Metrics and evidence are sourced from docs/LIVE-VERIFICATION.md.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