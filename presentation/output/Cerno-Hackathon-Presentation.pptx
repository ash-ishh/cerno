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29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FC0BA"/>
                </a:solidFill>
                <a:latin typeface="Menlo"/>
              </a:rPr>
              <a:t>GROWTHX × HERMES BUILDATHON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932688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Georgia"/>
              </a:rPr>
              <a:t>The judgment layer between</a:t>
            </a:r>
            <a:br/>
            <a:r>
              <a:rPr sz="3300" b="1" i="0">
                <a:solidFill>
                  <a:srgbClr val="FFFFFF"/>
                </a:solidFill>
                <a:latin typeface="Georgia"/>
              </a:rPr>
              <a:t>the internet and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267712"/>
            <a:ext cx="7589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D8D4"/>
                </a:solidFill>
                <a:latin typeface="Avenir Next"/>
              </a:rPr>
              <a:t>A personal research-and-briefing desk, run by agents.</a:t>
            </a:r>
          </a:p>
        </p:txBody>
      </p:sp>
      <p:pic>
        <p:nvPicPr>
          <p:cNvPr id="9" name="Picture 8" descr="cerno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33472"/>
            <a:ext cx="12191695" cy="42702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88720"/>
            <a:ext cx="10789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82320"/>
                </a:solidFill>
                <a:latin typeface="Georgia"/>
              </a:rPr>
              <a:t>The internet does not have an</a:t>
            </a:r>
            <a:br/>
            <a:r>
              <a:rPr sz="3100" b="1" i="0">
                <a:solidFill>
                  <a:srgbClr val="182320"/>
                </a:solidFill>
                <a:latin typeface="Georgia"/>
              </a:rPr>
              <a:t>information shortage.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84831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665A"/>
                </a:solidFill>
                <a:latin typeface="Georgia"/>
              </a:rPr>
              <a:t>It has a judgment problem.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761488"/>
            <a:ext cx="10863072" cy="0"/>
          </a:xfrm>
          <a:prstGeom prst="line">
            <a:avLst/>
          </a:prstGeom>
          <a:ln w="12700">
            <a:solidFill>
              <a:srgbClr val="D5DE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089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0906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320"/>
                </a:solidFill>
                <a:latin typeface="Avenir Next"/>
              </a:rPr>
              <a:t>FEEDS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02152"/>
            <a:ext cx="28803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26D"/>
                </a:solidFill>
                <a:latin typeface="Avenir Next"/>
              </a:rPr>
              <a:t>Optimize engagement —</a:t>
            </a:r>
            <a:br/>
            <a:r>
              <a:rPr sz="1500" b="0" i="0">
                <a:solidFill>
                  <a:srgbClr val="64726D"/>
                </a:solidFill>
                <a:latin typeface="Avenir Next"/>
              </a:rPr>
              <a:t>not the work in front of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5" y="31089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455" y="30906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320"/>
                </a:solidFill>
                <a:latin typeface="Avenir Next"/>
              </a:rPr>
              <a:t>READ-LATER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3502152"/>
            <a:ext cx="28803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26D"/>
                </a:solidFill>
                <a:latin typeface="Avenir Next"/>
              </a:rPr>
              <a:t>Collect more material —</a:t>
            </a:r>
            <a:br/>
            <a:r>
              <a:rPr sz="1500" b="0" i="0">
                <a:solidFill>
                  <a:srgbClr val="64726D"/>
                </a:solidFill>
                <a:latin typeface="Avenir Next"/>
              </a:rPr>
              <a:t>and leave the reading to you.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31089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30906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320"/>
                </a:solidFill>
                <a:latin typeface="Avenir Next"/>
              </a:rPr>
              <a:t>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502152"/>
            <a:ext cx="28803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26D"/>
                </a:solidFill>
                <a:latin typeface="Avenir Next"/>
              </a:rPr>
              <a:t>Make everything shorter —</a:t>
            </a:r>
            <a:br/>
            <a:r>
              <a:rPr sz="1500" b="0" i="0">
                <a:solidFill>
                  <a:srgbClr val="64726D"/>
                </a:solidFill>
                <a:latin typeface="Avenir Next"/>
              </a:rPr>
              <a:t>without deciding if it matters.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709160"/>
            <a:ext cx="10863072" cy="1060704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9651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E1D3"/>
                </a:solidFill>
                <a:latin typeface="Menlo"/>
              </a:rPr>
              <a:t>The missing function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864608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Georgia"/>
              </a:rPr>
              <a:t>Decide what deserves attention now — for this person.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THE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One mission in. One finite briefing 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01951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874519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FOCUS THREAD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157984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Declare the current decision, context, and boundaries.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2194560"/>
            <a:ext cx="0" cy="557784"/>
          </a:xfrm>
          <a:prstGeom prst="line">
            <a:avLst/>
          </a:prstGeom>
          <a:ln w="20320">
            <a:solidFill>
              <a:srgbClr val="DCEB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6656" y="2843784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816352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AGENT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099816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A Hermes Director delegates text, video, and personal judgment.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3136392"/>
            <a:ext cx="0" cy="557784"/>
          </a:xfrm>
          <a:prstGeom prst="line">
            <a:avLst/>
          </a:prstGeom>
          <a:ln w="20320">
            <a:solidFill>
              <a:srgbClr val="DCEB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6656" y="3785615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58183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EXACT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041647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Passages or VideoDB transcript moments must exact-match before publication.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4078223"/>
            <a:ext cx="0" cy="557784"/>
          </a:xfrm>
          <a:prstGeom prst="line">
            <a:avLst/>
          </a:prstGeom>
          <a:ln w="20320">
            <a:solidFill>
              <a:srgbClr val="DCEB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76656" y="4727448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700016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VISIBLE TASTE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83479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Correct the reasoning; approve a readable TasteDoc change.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2" y="1773936"/>
            <a:ext cx="6675120" cy="4233672"/>
          </a:xfrm>
          <a:prstGeom prst="roundRect">
            <a:avLst/>
          </a:prstGeom>
          <a:solidFill>
            <a:srgbClr val="E5ECEA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iefing-dem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0174" y="1847088"/>
            <a:ext cx="6010835" cy="4087368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58368" y="5833872"/>
            <a:ext cx="3685032" cy="384048"/>
          </a:xfrm>
          <a:prstGeom prst="roundRect">
            <a:avLst/>
          </a:prstGeom>
          <a:solidFill>
            <a:srgbClr val="DC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916168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C665A"/>
                </a:solidFill>
                <a:latin typeface="Menlo"/>
              </a:rPr>
              <a:t>LIVE DEMO  →  assign · inspect · correct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AI AS AGENCY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An agent team replaces the personal research desk.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39112"/>
            <a:ext cx="1901952" cy="263347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276856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2320"/>
                </a:solidFill>
                <a:latin typeface="Avenir Next"/>
              </a:rPr>
              <a:t>Focus Thread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999232"/>
            <a:ext cx="141732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Current mission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Known context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Desired outcome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Freshness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TasteDoc snapshot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3328416"/>
            <a:ext cx="493776" cy="0"/>
          </a:xfrm>
          <a:prstGeom prst="line">
            <a:avLst/>
          </a:prstGeom>
          <a:ln w="2286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54096" y="2322576"/>
            <a:ext cx="1993392" cy="1993392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6704" y="26060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E1D3"/>
                </a:solidFill>
                <a:latin typeface="Menlo"/>
              </a:rPr>
              <a:t>MANAGER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2926080"/>
            <a:ext cx="1371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Research</a:t>
            </a:r>
            <a:br/>
            <a:r>
              <a:rPr sz="2200" b="1" i="0">
                <a:solidFill>
                  <a:srgbClr val="FFFFFF"/>
                </a:solidFill>
                <a:latin typeface="Georgia"/>
              </a:rPr>
              <a:t>Director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381304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FC0BA"/>
                </a:solidFill>
                <a:latin typeface="Menlo"/>
              </a:rPr>
              <a:t>plans · delegates · reviews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47488" y="3319272"/>
            <a:ext cx="512064" cy="0"/>
          </a:xfrm>
          <a:prstGeom prst="line">
            <a:avLst/>
          </a:prstGeom>
          <a:ln w="2286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59552" y="2414016"/>
            <a:ext cx="0" cy="1837944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59552" y="2368296"/>
            <a:ext cx="310896" cy="0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70448" y="2011680"/>
            <a:ext cx="2084831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121408"/>
            <a:ext cx="9326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EVIDENCE</a:t>
            </a:r>
            <a:br/>
            <a:r>
              <a:rPr sz="950" b="1" i="0">
                <a:solidFill>
                  <a:srgbClr val="182320"/>
                </a:solidFill>
                <a:latin typeface="Avenir Next"/>
              </a:rPr>
              <a:t>ANALYST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194560"/>
            <a:ext cx="713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Avenir Next"/>
              </a:rPr>
              <a:t>primary sources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59552" y="3328416"/>
            <a:ext cx="310896" cy="0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870448" y="2971800"/>
            <a:ext cx="2084831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71616" y="3081528"/>
            <a:ext cx="9326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VIDEO</a:t>
            </a:r>
            <a:br/>
            <a:r>
              <a:rPr sz="950" b="1" i="0">
                <a:solidFill>
                  <a:srgbClr val="182320"/>
                </a:solidFill>
                <a:latin typeface="Avenir Next"/>
              </a:rPr>
              <a:t>ANALYST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3154680"/>
            <a:ext cx="713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Avenir Next"/>
              </a:rPr>
              <a:t>timestamped moments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59552" y="4288536"/>
            <a:ext cx="310896" cy="0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870448" y="3931920"/>
            <a:ext cx="2084831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71616" y="4041648"/>
            <a:ext cx="9326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PERSONAL</a:t>
            </a:r>
            <a:br/>
            <a:r>
              <a:rPr sz="950" b="1" i="0">
                <a:solidFill>
                  <a:srgbClr val="182320"/>
                </a:solidFill>
                <a:latin typeface="Avenir Next"/>
              </a:rPr>
              <a:t>EDITOR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9168" y="4114800"/>
            <a:ext cx="713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Avenir Next"/>
              </a:rPr>
              <a:t>novelty + taste fit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55279" y="3319272"/>
            <a:ext cx="475489" cy="0"/>
          </a:xfrm>
          <a:prstGeom prst="line">
            <a:avLst/>
          </a:prstGeom>
          <a:ln w="2286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430768" y="2039112"/>
            <a:ext cx="3090672" cy="2633472"/>
          </a:xfrm>
          <a:prstGeom prst="roundRect">
            <a:avLst/>
          </a:prstGeom>
          <a:solidFill>
            <a:srgbClr val="EEF6F3"/>
          </a:solidFill>
          <a:ln w="10160">
            <a:solidFill>
              <a:srgbClr val="DC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227685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DETERMINISTIC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578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2320"/>
                </a:solidFill>
                <a:latin typeface="Avenir Next"/>
              </a:rPr>
              <a:t>Validate before publish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95944" y="3017520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5944" y="3008376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9408" y="3008376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exact quote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95944" y="3364991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95944" y="3355848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79408" y="3355848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source or timestamp locator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95944" y="3712463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95944" y="3703320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3703320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content hash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95944" y="4059935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95944" y="4050791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9408" y="405079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playable video moment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437997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FINITE BRIEFING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5148072"/>
            <a:ext cx="10863072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CONVEX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19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canonical memory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LINKUP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5968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live discovery + fetch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VIDEODB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86016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indexed exact moments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06256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HERMES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6064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Director + delegation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THE TRUST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Trust is a product surface — not a disclaimer.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7373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4726D"/>
                </a:solidFill>
                <a:latin typeface="Avenir Next"/>
              </a:rPr>
              <a:t>Every finding exposes the full path from claim to personal judgment.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50976" y="2432304"/>
            <a:ext cx="0" cy="2990088"/>
          </a:xfrm>
          <a:prstGeom prst="line">
            <a:avLst/>
          </a:prstGeom>
          <a:ln w="2540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2104" y="2377440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30428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04288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56032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Atomic, decision-relevant finding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" y="3054096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29809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8094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EXACT PASSAGE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3697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Source substring or timestamped VideoDB transcript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" y="3730752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584" y="365760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657600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1363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Source/timestamp locator + SHA-256 content hash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" y="4407408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584" y="433425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334256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PERSONAL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590288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Novelty and redundancy against prior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" y="5084064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584" y="501091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010912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TASTEDOC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266944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Visible rule used to make the judgment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70448" y="1755648"/>
            <a:ext cx="4663440" cy="4443984"/>
          </a:xfrm>
          <a:prstGeom prst="roundRect">
            <a:avLst/>
          </a:prstGeom>
          <a:solidFill>
            <a:srgbClr val="E4ECE9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vidence-insp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467" y="1819655"/>
            <a:ext cx="3699401" cy="431596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887968" y="5431536"/>
            <a:ext cx="2423160" cy="603504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0" y="555955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CE1D3"/>
                </a:solidFill>
                <a:latin typeface="Menlo"/>
              </a:rPr>
              <a:t>CORRECTION → REVIEWED DIFF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VERIFIED LIVE RUN · 12 JUL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One run. Every claim inspectable.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56231"/>
            <a:ext cx="234086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56231"/>
            <a:ext cx="64008" cy="1024128"/>
          </a:xfrm>
          <a:prstGeom prst="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20824"/>
            <a:ext cx="202082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102.6s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47802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WALL-CLOCK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679191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local app + remote Hermes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63824" y="1856231"/>
            <a:ext cx="234086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63824" y="1856231"/>
            <a:ext cx="64008" cy="1024128"/>
          </a:xfrm>
          <a:prstGeom prst="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202082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7 → 4 →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247802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DISCOVERED · FETCHED · PUBLISHED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679191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progressive-depth 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1856231"/>
            <a:ext cx="234086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1856231"/>
            <a:ext cx="64008" cy="1024128"/>
          </a:xfrm>
          <a:prstGeom prst="rect">
            <a:avLst/>
          </a:prstGeom>
          <a:solidFill>
            <a:srgbClr val="A4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0448" y="2020824"/>
            <a:ext cx="202082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47802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REJECTED + PRESERVED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2679191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nothing silently disappears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1856231"/>
            <a:ext cx="334670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4736" y="1856231"/>
            <a:ext cx="64008" cy="1024128"/>
          </a:xfrm>
          <a:prstGeom prst="rect">
            <a:avLst/>
          </a:prstGeom>
          <a:solidFill>
            <a:srgbClr val="D79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5904" y="2020824"/>
            <a:ext cx="302666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3 specialists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2478024"/>
            <a:ext cx="30266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ONE NATIVE DELEGATION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2679191"/>
            <a:ext cx="30266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two analysts + personal editor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27248"/>
            <a:ext cx="6876288" cy="2633472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3392424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E1D3"/>
                </a:solidFill>
                <a:latin typeface="Menlo"/>
              </a:rPr>
              <a:t>EVIDENCE RECEIPT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30752"/>
            <a:ext cx="61722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“The result is four recurring failure modes: unregulated growth, missing semantic revision, capacity-driven forgetting, and read-only retrieval.”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64024"/>
            <a:ext cx="601675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FC0BA"/>
                </a:solidFill>
                <a:latin typeface="Menlo"/>
              </a:rPr>
              <a:t>SOURCE  arxiv.org/html/2605.26252v1</a:t>
            </a:r>
            <a:br/>
            <a:r>
              <a:rPr sz="850" b="0" i="0">
                <a:solidFill>
                  <a:srgbClr val="AFC0BA"/>
                </a:solidFill>
                <a:latin typeface="Menlo"/>
              </a:rPr>
              <a:t>LOCATOR Is Agent Memory a Database? · paragraph 12</a:t>
            </a:r>
            <a:br/>
            <a:r>
              <a:rPr sz="850" b="0" i="0">
                <a:solidFill>
                  <a:srgbClr val="AFC0BA"/>
                </a:solidFill>
                <a:latin typeface="Menlo"/>
              </a:rPr>
              <a:t>SHA-256 61475cf3…97fa7564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5431536"/>
            <a:ext cx="5212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CE1D3"/>
                </a:solidFill>
                <a:latin typeface="Menlo"/>
              </a:rPr>
              <a:t>Exact substring check passed before publication.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3127248"/>
            <a:ext cx="3749039" cy="263347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3392424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WHAT THE RECEIPT PROVES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3296" y="3767328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83296" y="3758184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5904" y="3749040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Live LinkUp discovery + primary fetch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4114800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105656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5904" y="4096512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Hermes run + delegation receipt persisted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83296" y="4462272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83296" y="4453128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5904" y="4443984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3 exact-matched findings; snippets excluded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83296" y="4809744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83296" y="4800600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75904" y="4791456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VideoDB exact moment at 0:30–0:44 playable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83296" y="5157216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83296" y="5148072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5904" y="5138928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Feedback approved as visible TasteDoc v2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" y="6044184"/>
            <a:ext cx="10835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A45C52"/>
                </a:solidFill>
                <a:latin typeface="Menlo"/>
              </a:rPr>
              <a:t>HONESTY BOUNDARY · VideoDB is a separate one-source receipt; no product users, traffic, or model cost claimed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15214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AFC0BA"/>
                </a:solidFill>
                <a:latin typeface="Georgia"/>
              </a:rPr>
              <a:t>Most tools help you consume faster.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051560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Cerno decides what deserves</a:t>
            </a:r>
            <a:br/>
            <a:r>
              <a:rPr sz="3600" b="1" i="0">
                <a:solidFill>
                  <a:srgbClr val="FFFFFF"/>
                </a:solidFill>
                <a:latin typeface="Georgia"/>
              </a:rPr>
              <a:t>to be consumed at 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FINITE BRIEFINGS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VISIBLE TASTE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9904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CITED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5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NO FEED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6656" y="4700016"/>
            <a:ext cx="10844784" cy="0"/>
          </a:xfrm>
          <a:prstGeom prst="line">
            <a:avLst/>
          </a:prstGeom>
          <a:ln w="12700">
            <a:solidFill>
              <a:srgbClr val="315B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" y="5074920"/>
            <a:ext cx="749807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Georgia"/>
              </a:rPr>
              <a:t>Consume less. Understand more.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566928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0BA"/>
                </a:solidFill>
                <a:latin typeface="Menlo"/>
              </a:rPr>
              <a:t>cernere · to sift, distinguish, and 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5084064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9CE1D3"/>
                </a:solidFill>
                <a:latin typeface="Avenir Next"/>
              </a:rPr>
              <a:t>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FC0BA"/>
                </a:solidFill>
                <a:latin typeface="Menlo"/>
              </a:rPr>
              <a:t>CERNO · AI AS AGENCY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FC0BA"/>
                </a:solidFill>
                <a:latin typeface="Menlo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Cerno — The judgment layer between the internet and your attention</dc:title>
  <dc:subject>GrowthX × Hermes Buildathon — AI as Agency</dc:subject>
  <dc:creator>Cerno</dc:creator>
  <cp:keywords>Cerno, Hermes, AI as Agency, research agents, finite briefing</cp:keywords>
  <dc:description>Metrics and evidence are sourced from docs/LIVE-VERIFICATION.md.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